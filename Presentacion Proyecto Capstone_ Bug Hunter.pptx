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Raleway-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9b2e530d6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9b2e530d6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9b2e530d6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9b2e530d6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9b2e530d6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9b2e530d6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9b2e530d6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9b2e530d6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b2e530d6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9b2e530d6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f9b2e530d6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f9b2e530d6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9b2e530d6_4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9b2e530d6_4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f9b2e530d6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f9b2e530d6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f9b2e530d6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f9b2e530d6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9b2e530d6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9b2e530d6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9b2e530d6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9b2e530d6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f9b2e530d6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f9b2e530d6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f9b2e530d6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f9b2e530d6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f9b2e530d6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f9b2e530d6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9b2e530d6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9b2e530d6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15.png"/><Relationship Id="rId10" Type="http://schemas.openxmlformats.org/officeDocument/2006/relationships/image" Target="../media/image14.png"/><Relationship Id="rId9" Type="http://schemas.openxmlformats.org/officeDocument/2006/relationships/image" Target="../media/image13.png"/><Relationship Id="rId5" Type="http://schemas.openxmlformats.org/officeDocument/2006/relationships/image" Target="../media/image25.png"/><Relationship Id="rId6" Type="http://schemas.openxmlformats.org/officeDocument/2006/relationships/image" Target="../media/image18.png"/><Relationship Id="rId7" Type="http://schemas.openxmlformats.org/officeDocument/2006/relationships/image" Target="../media/image23.png"/><Relationship Id="rId8"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2595125" y="1322450"/>
            <a:ext cx="5822400" cy="1664700"/>
          </a:xfrm>
          <a:prstGeom prst="rect">
            <a:avLst/>
          </a:prstGeom>
        </p:spPr>
        <p:txBody>
          <a:bodyPr anchorCtr="0" anchor="t" bIns="91425" lIns="91425" spcFirstLastPara="1" rIns="91425" wrap="square" tIns="91425">
            <a:normAutofit fontScale="90000"/>
          </a:bodyPr>
          <a:lstStyle/>
          <a:p>
            <a:pPr indent="0" lvl="0" marL="0" rtl="0" algn="l">
              <a:lnSpc>
                <a:spcPct val="135714"/>
              </a:lnSpc>
              <a:spcBef>
                <a:spcPts val="0"/>
              </a:spcBef>
              <a:spcAft>
                <a:spcPts val="0"/>
              </a:spcAft>
              <a:buNone/>
            </a:pPr>
            <a:r>
              <a:rPr lang="es"/>
              <a:t>Proyecto Capstone:</a:t>
            </a:r>
            <a:endParaRPr/>
          </a:p>
          <a:p>
            <a:pPr indent="0" lvl="0" marL="0" rtl="0" algn="l">
              <a:lnSpc>
                <a:spcPct val="135714"/>
              </a:lnSpc>
              <a:spcBef>
                <a:spcPts val="0"/>
              </a:spcBef>
              <a:spcAft>
                <a:spcPts val="0"/>
              </a:spcAft>
              <a:buNone/>
            </a:pPr>
            <a:r>
              <a:rPr lang="es"/>
              <a:t>Bug Hunter</a:t>
            </a:r>
            <a:endParaRPr/>
          </a:p>
        </p:txBody>
      </p:sp>
      <p:sp>
        <p:nvSpPr>
          <p:cNvPr id="87" name="Google Shape;87;p13"/>
          <p:cNvSpPr txBox="1"/>
          <p:nvPr>
            <p:ph idx="1" type="subTitle"/>
          </p:nvPr>
        </p:nvSpPr>
        <p:spPr>
          <a:xfrm>
            <a:off x="6994650" y="3593750"/>
            <a:ext cx="1928700" cy="1339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es"/>
              <a:t>Integrantes: </a:t>
            </a:r>
            <a:endParaRPr/>
          </a:p>
          <a:p>
            <a:pPr indent="0" lvl="0" marL="0" rtl="0" algn="l">
              <a:spcBef>
                <a:spcPts val="0"/>
              </a:spcBef>
              <a:spcAft>
                <a:spcPts val="0"/>
              </a:spcAft>
              <a:buNone/>
            </a:pPr>
            <a:r>
              <a:rPr lang="es"/>
              <a:t>Martín Andrés Salas</a:t>
            </a:r>
            <a:endParaRPr/>
          </a:p>
          <a:p>
            <a:pPr indent="0" lvl="0" marL="0" rtl="0" algn="l">
              <a:spcBef>
                <a:spcPts val="0"/>
              </a:spcBef>
              <a:spcAft>
                <a:spcPts val="0"/>
              </a:spcAft>
              <a:buNone/>
            </a:pPr>
            <a:r>
              <a:rPr lang="es"/>
              <a:t>Martín Pero Cordero</a:t>
            </a:r>
            <a:endParaRPr/>
          </a:p>
          <a:p>
            <a:pPr indent="0" lvl="0" marL="0" rtl="0" algn="l">
              <a:spcBef>
                <a:spcPts val="0"/>
              </a:spcBef>
              <a:spcAft>
                <a:spcPts val="0"/>
              </a:spcAft>
              <a:buNone/>
            </a:pPr>
            <a:r>
              <a:t/>
            </a:r>
            <a:endParaRPr/>
          </a:p>
        </p:txBody>
      </p:sp>
      <p:pic>
        <p:nvPicPr>
          <p:cNvPr id="88" name="Google Shape;88;p13"/>
          <p:cNvPicPr preferRelativeResize="0"/>
          <p:nvPr/>
        </p:nvPicPr>
        <p:blipFill>
          <a:blip r:embed="rId3">
            <a:alphaModFix/>
          </a:blip>
          <a:stretch>
            <a:fillRect/>
          </a:stretch>
        </p:blipFill>
        <p:spPr>
          <a:xfrm>
            <a:off x="7147725" y="0"/>
            <a:ext cx="1996274" cy="490750"/>
          </a:xfrm>
          <a:prstGeom prst="rect">
            <a:avLst/>
          </a:prstGeom>
          <a:noFill/>
          <a:ln>
            <a:noFill/>
          </a:ln>
        </p:spPr>
      </p:pic>
      <p:pic>
        <p:nvPicPr>
          <p:cNvPr id="89" name="Google Shape;89;p13"/>
          <p:cNvPicPr preferRelativeResize="0"/>
          <p:nvPr/>
        </p:nvPicPr>
        <p:blipFill>
          <a:blip r:embed="rId4">
            <a:alphaModFix/>
          </a:blip>
          <a:stretch>
            <a:fillRect/>
          </a:stretch>
        </p:blipFill>
        <p:spPr>
          <a:xfrm>
            <a:off x="729450" y="1362500"/>
            <a:ext cx="1664700" cy="1664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Índice 	</a:t>
            </a:r>
            <a:endParaRPr/>
          </a:p>
          <a:p>
            <a:pPr indent="0" lvl="0" marL="0" rtl="0" algn="l">
              <a:spcBef>
                <a:spcPts val="0"/>
              </a:spcBef>
              <a:spcAft>
                <a:spcPts val="0"/>
              </a:spcAft>
              <a:buNone/>
            </a:pPr>
            <a:r>
              <a:t/>
            </a:r>
            <a:endParaRPr/>
          </a:p>
        </p:txBody>
      </p:sp>
      <p:sp>
        <p:nvSpPr>
          <p:cNvPr id="95" name="Google Shape;95;p14"/>
          <p:cNvSpPr txBox="1"/>
          <p:nvPr>
            <p:ph idx="1" type="body"/>
          </p:nvPr>
        </p:nvSpPr>
        <p:spPr>
          <a:xfrm>
            <a:off x="727650" y="1330725"/>
            <a:ext cx="7688700" cy="3407400"/>
          </a:xfrm>
          <a:prstGeom prst="rect">
            <a:avLst/>
          </a:prstGeom>
        </p:spPr>
        <p:txBody>
          <a:bodyPr anchorCtr="0" anchor="t" bIns="91425" lIns="91425" spcFirstLastPara="1" rIns="91425" wrap="square" tIns="91425">
            <a:normAutofit fontScale="25000" lnSpcReduction="10000"/>
          </a:bodyPr>
          <a:lstStyle/>
          <a:p>
            <a:pPr indent="-332236" lvl="0" marL="457200" rtl="0" algn="l">
              <a:lnSpc>
                <a:spcPct val="100000"/>
              </a:lnSpc>
              <a:spcBef>
                <a:spcPts val="1000"/>
              </a:spcBef>
              <a:spcAft>
                <a:spcPts val="0"/>
              </a:spcAft>
              <a:buSzPct val="100000"/>
              <a:buChar char="●"/>
            </a:pPr>
            <a:r>
              <a:rPr lang="es" sz="6528"/>
              <a:t>Introducción</a:t>
            </a:r>
            <a:endParaRPr sz="6528"/>
          </a:p>
          <a:p>
            <a:pPr indent="-332236" lvl="0" marL="457200" rtl="0" algn="l">
              <a:lnSpc>
                <a:spcPct val="100000"/>
              </a:lnSpc>
              <a:spcBef>
                <a:spcPts val="0"/>
              </a:spcBef>
              <a:spcAft>
                <a:spcPts val="0"/>
              </a:spcAft>
              <a:buSzPct val="100000"/>
              <a:buChar char="●"/>
            </a:pPr>
            <a:r>
              <a:rPr lang="es" sz="6528"/>
              <a:t>Contexto</a:t>
            </a:r>
            <a:endParaRPr sz="6528"/>
          </a:p>
          <a:p>
            <a:pPr indent="-332236" lvl="0" marL="457200" rtl="0" algn="l">
              <a:lnSpc>
                <a:spcPct val="100000"/>
              </a:lnSpc>
              <a:spcBef>
                <a:spcPts val="0"/>
              </a:spcBef>
              <a:spcAft>
                <a:spcPts val="0"/>
              </a:spcAft>
              <a:buSzPct val="100000"/>
              <a:buChar char="●"/>
            </a:pPr>
            <a:r>
              <a:rPr lang="es" sz="6528"/>
              <a:t>Problemática</a:t>
            </a:r>
            <a:endParaRPr sz="6528"/>
          </a:p>
          <a:p>
            <a:pPr indent="-332236" lvl="0" marL="457200" rtl="0" algn="l">
              <a:lnSpc>
                <a:spcPct val="100000"/>
              </a:lnSpc>
              <a:spcBef>
                <a:spcPts val="0"/>
              </a:spcBef>
              <a:spcAft>
                <a:spcPts val="0"/>
              </a:spcAft>
              <a:buSzPct val="100000"/>
              <a:buChar char="●"/>
            </a:pPr>
            <a:r>
              <a:rPr lang="es" sz="6528"/>
              <a:t>Solución</a:t>
            </a:r>
            <a:endParaRPr sz="6528"/>
          </a:p>
          <a:p>
            <a:pPr indent="-332236" lvl="0" marL="457200" rtl="0" algn="l">
              <a:lnSpc>
                <a:spcPct val="100000"/>
              </a:lnSpc>
              <a:spcBef>
                <a:spcPts val="0"/>
              </a:spcBef>
              <a:spcAft>
                <a:spcPts val="0"/>
              </a:spcAft>
              <a:buSzPct val="100000"/>
              <a:buChar char="●"/>
            </a:pPr>
            <a:r>
              <a:rPr lang="es" sz="6528"/>
              <a:t>Metodología/Plan/Roles</a:t>
            </a:r>
            <a:endParaRPr sz="6528"/>
          </a:p>
          <a:p>
            <a:pPr indent="-332236" lvl="0" marL="457200" rtl="0" algn="l">
              <a:lnSpc>
                <a:spcPct val="100000"/>
              </a:lnSpc>
              <a:spcBef>
                <a:spcPts val="0"/>
              </a:spcBef>
              <a:spcAft>
                <a:spcPts val="0"/>
              </a:spcAft>
              <a:buSzPct val="100000"/>
              <a:buChar char="●"/>
            </a:pPr>
            <a:r>
              <a:rPr lang="es" sz="6528"/>
              <a:t>Mapa Tecnológico/Arquitectura</a:t>
            </a:r>
            <a:endParaRPr sz="6528"/>
          </a:p>
          <a:p>
            <a:pPr indent="-332236" lvl="0" marL="457200" rtl="0" algn="l">
              <a:lnSpc>
                <a:spcPct val="100000"/>
              </a:lnSpc>
              <a:spcBef>
                <a:spcPts val="0"/>
              </a:spcBef>
              <a:spcAft>
                <a:spcPts val="0"/>
              </a:spcAft>
              <a:buSzPct val="100000"/>
              <a:buChar char="●"/>
            </a:pPr>
            <a:r>
              <a:rPr lang="es" sz="6528"/>
              <a:t>Competencias</a:t>
            </a:r>
            <a:endParaRPr sz="6528"/>
          </a:p>
          <a:p>
            <a:pPr indent="-332236" lvl="0" marL="457200" rtl="0" algn="l">
              <a:lnSpc>
                <a:spcPct val="100000"/>
              </a:lnSpc>
              <a:spcBef>
                <a:spcPts val="0"/>
              </a:spcBef>
              <a:spcAft>
                <a:spcPts val="0"/>
              </a:spcAft>
              <a:buSzPct val="100000"/>
              <a:buChar char="●"/>
            </a:pPr>
            <a:r>
              <a:rPr lang="es" sz="6528"/>
              <a:t>Riesgos</a:t>
            </a:r>
            <a:endParaRPr sz="6528"/>
          </a:p>
          <a:p>
            <a:pPr indent="-332236" lvl="0" marL="457200" rtl="0" algn="l">
              <a:lnSpc>
                <a:spcPct val="100000"/>
              </a:lnSpc>
              <a:spcBef>
                <a:spcPts val="0"/>
              </a:spcBef>
              <a:spcAft>
                <a:spcPts val="0"/>
              </a:spcAft>
              <a:buSzPct val="100000"/>
              <a:buChar char="●"/>
            </a:pPr>
            <a:r>
              <a:rPr lang="es" sz="6528"/>
              <a:t>Seguridad</a:t>
            </a:r>
            <a:endParaRPr sz="6528"/>
          </a:p>
          <a:p>
            <a:pPr indent="-332236" lvl="0" marL="457200" rtl="0" algn="l">
              <a:lnSpc>
                <a:spcPct val="100000"/>
              </a:lnSpc>
              <a:spcBef>
                <a:spcPts val="0"/>
              </a:spcBef>
              <a:spcAft>
                <a:spcPts val="0"/>
              </a:spcAft>
              <a:buSzPct val="100000"/>
              <a:buChar char="●"/>
            </a:pPr>
            <a:r>
              <a:rPr lang="es" sz="6528"/>
              <a:t>Modelo de Negocio</a:t>
            </a:r>
            <a:endParaRPr sz="6528"/>
          </a:p>
          <a:p>
            <a:pPr indent="-332236" lvl="0" marL="457200" rtl="0" algn="l">
              <a:lnSpc>
                <a:spcPct val="100000"/>
              </a:lnSpc>
              <a:spcBef>
                <a:spcPts val="0"/>
              </a:spcBef>
              <a:spcAft>
                <a:spcPts val="0"/>
              </a:spcAft>
              <a:buSzPct val="100000"/>
              <a:buChar char="●"/>
            </a:pPr>
            <a:r>
              <a:rPr lang="es" sz="6528"/>
              <a:t>Mockup</a:t>
            </a:r>
            <a:endParaRPr sz="6528"/>
          </a:p>
          <a:p>
            <a:pPr indent="-332236" lvl="0" marL="457200" rtl="0" algn="l">
              <a:lnSpc>
                <a:spcPct val="100000"/>
              </a:lnSpc>
              <a:spcBef>
                <a:spcPts val="0"/>
              </a:spcBef>
              <a:spcAft>
                <a:spcPts val="0"/>
              </a:spcAft>
              <a:buSzPct val="100000"/>
              <a:buChar char="●"/>
            </a:pPr>
            <a:r>
              <a:rPr lang="es" sz="6528"/>
              <a:t>Conclusión</a:t>
            </a:r>
            <a:endParaRPr sz="6528"/>
          </a:p>
          <a:p>
            <a:pPr indent="0" lvl="0" marL="0" rtl="0" algn="l">
              <a:spcBef>
                <a:spcPts val="0"/>
              </a:spcBef>
              <a:spcAft>
                <a:spcPts val="0"/>
              </a:spcAft>
              <a:buNone/>
            </a:pPr>
            <a:r>
              <a:t/>
            </a:r>
            <a:endParaRPr sz="6528"/>
          </a:p>
          <a:p>
            <a:pPr indent="0" lvl="0" marL="0" rtl="0" algn="l">
              <a:spcBef>
                <a:spcPts val="1200"/>
              </a:spcBef>
              <a:spcAft>
                <a:spcPts val="1200"/>
              </a:spcAft>
              <a:buNone/>
            </a:pPr>
            <a:r>
              <a:t/>
            </a:r>
            <a:endParaRPr/>
          </a:p>
        </p:txBody>
      </p:sp>
      <p:pic>
        <p:nvPicPr>
          <p:cNvPr id="96" name="Google Shape;96;p14"/>
          <p:cNvPicPr preferRelativeResize="0"/>
          <p:nvPr/>
        </p:nvPicPr>
        <p:blipFill>
          <a:blip r:embed="rId3">
            <a:alphaModFix/>
          </a:blip>
          <a:stretch>
            <a:fillRect/>
          </a:stretch>
        </p:blipFill>
        <p:spPr>
          <a:xfrm>
            <a:off x="7147725" y="0"/>
            <a:ext cx="1996274" cy="4907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5"/>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02" name="Google Shape;102;p15"/>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Introducción</a:t>
            </a:r>
            <a:endParaRPr/>
          </a:p>
          <a:p>
            <a:pPr indent="0" lvl="0" marL="0" rtl="0" algn="l">
              <a:spcBef>
                <a:spcPts val="0"/>
              </a:spcBef>
              <a:spcAft>
                <a:spcPts val="0"/>
              </a:spcAft>
              <a:buNone/>
            </a:pPr>
            <a:r>
              <a:t/>
            </a:r>
            <a:endParaRPr/>
          </a:p>
        </p:txBody>
      </p:sp>
      <p:sp>
        <p:nvSpPr>
          <p:cNvPr id="103" name="Google Shape;103;p15"/>
          <p:cNvSpPr txBox="1"/>
          <p:nvPr>
            <p:ph idx="1" type="body"/>
          </p:nvPr>
        </p:nvSpPr>
        <p:spPr>
          <a:xfrm>
            <a:off x="727650" y="1358825"/>
            <a:ext cx="4911900" cy="3407400"/>
          </a:xfrm>
          <a:prstGeom prst="rect">
            <a:avLst/>
          </a:prstGeom>
        </p:spPr>
        <p:txBody>
          <a:bodyPr anchorCtr="0" anchor="ctr" bIns="91425" lIns="91425" spcFirstLastPara="1" rIns="91425" wrap="square" tIns="91425">
            <a:normAutofit fontScale="32500"/>
          </a:bodyPr>
          <a:lstStyle/>
          <a:p>
            <a:pPr indent="-318558" lvl="0" marL="457200" rtl="0" algn="l">
              <a:lnSpc>
                <a:spcPct val="150000"/>
              </a:lnSpc>
              <a:spcBef>
                <a:spcPts val="1000"/>
              </a:spcBef>
              <a:spcAft>
                <a:spcPts val="0"/>
              </a:spcAft>
              <a:buSzPct val="100000"/>
              <a:buChar char="●"/>
            </a:pPr>
            <a:r>
              <a:rPr lang="es" sz="4359"/>
              <a:t>Propósito</a:t>
            </a:r>
            <a:r>
              <a:rPr lang="es" sz="4359"/>
              <a:t>: Espacio de desarrollo profesional para programadores junior y estudiantes.</a:t>
            </a:r>
            <a:endParaRPr sz="4359"/>
          </a:p>
          <a:p>
            <a:pPr indent="0" lvl="0" marL="457200" rtl="0" algn="l">
              <a:lnSpc>
                <a:spcPct val="150000"/>
              </a:lnSpc>
              <a:spcBef>
                <a:spcPts val="1000"/>
              </a:spcBef>
              <a:spcAft>
                <a:spcPts val="0"/>
              </a:spcAft>
              <a:buNone/>
            </a:pPr>
            <a:r>
              <a:t/>
            </a:r>
            <a:endParaRPr sz="4359"/>
          </a:p>
          <a:p>
            <a:pPr indent="-318558" lvl="0" marL="457200" rtl="0" algn="l">
              <a:lnSpc>
                <a:spcPct val="150000"/>
              </a:lnSpc>
              <a:spcBef>
                <a:spcPts val="1000"/>
              </a:spcBef>
              <a:spcAft>
                <a:spcPts val="0"/>
              </a:spcAft>
              <a:buSzPct val="100000"/>
              <a:buChar char="●"/>
            </a:pPr>
            <a:r>
              <a:rPr lang="es" sz="4359"/>
              <a:t>Dinámica: Tareas acotadas y autocontenidas (componentes UI, corrección de bugs, automatización) sin proyectos complejos a gran escala</a:t>
            </a:r>
            <a:endParaRPr sz="4359"/>
          </a:p>
          <a:p>
            <a:pPr indent="0" lvl="0" marL="0" rtl="0" algn="l">
              <a:spcBef>
                <a:spcPts val="1000"/>
              </a:spcBef>
              <a:spcAft>
                <a:spcPts val="0"/>
              </a:spcAft>
              <a:buNone/>
            </a:pPr>
            <a:r>
              <a:t/>
            </a:r>
            <a:endParaRPr sz="6528"/>
          </a:p>
          <a:p>
            <a:pPr indent="0" lvl="0" marL="0" rtl="0" algn="l">
              <a:spcBef>
                <a:spcPts val="1200"/>
              </a:spcBef>
              <a:spcAft>
                <a:spcPts val="1200"/>
              </a:spcAft>
              <a:buNone/>
            </a:pPr>
            <a:r>
              <a:t/>
            </a:r>
            <a:endParaRPr/>
          </a:p>
        </p:txBody>
      </p:sp>
      <p:pic>
        <p:nvPicPr>
          <p:cNvPr id="104" name="Google Shape;104;p15"/>
          <p:cNvPicPr preferRelativeResize="0"/>
          <p:nvPr/>
        </p:nvPicPr>
        <p:blipFill>
          <a:blip r:embed="rId4">
            <a:alphaModFix/>
          </a:blip>
          <a:stretch>
            <a:fillRect/>
          </a:stretch>
        </p:blipFill>
        <p:spPr>
          <a:xfrm>
            <a:off x="5639550" y="2313450"/>
            <a:ext cx="3504450" cy="2334369"/>
          </a:xfrm>
          <a:prstGeom prst="rect">
            <a:avLst/>
          </a:prstGeom>
          <a:noFill/>
          <a:ln>
            <a:noFill/>
          </a:ln>
        </p:spPr>
      </p:pic>
      <p:pic>
        <p:nvPicPr>
          <p:cNvPr id="105" name="Google Shape;105;p15"/>
          <p:cNvPicPr preferRelativeResize="0"/>
          <p:nvPr/>
        </p:nvPicPr>
        <p:blipFill>
          <a:blip r:embed="rId5">
            <a:alphaModFix/>
          </a:blip>
          <a:stretch>
            <a:fillRect/>
          </a:stretch>
        </p:blipFill>
        <p:spPr>
          <a:xfrm>
            <a:off x="5988476" y="1358825"/>
            <a:ext cx="2571376" cy="9546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p16"/>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11" name="Google Shape;111;p16"/>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Contexto</a:t>
            </a:r>
            <a:endParaRPr/>
          </a:p>
        </p:txBody>
      </p:sp>
      <p:sp>
        <p:nvSpPr>
          <p:cNvPr id="112" name="Google Shape;112;p16"/>
          <p:cNvSpPr txBox="1"/>
          <p:nvPr>
            <p:ph idx="1" type="body"/>
          </p:nvPr>
        </p:nvSpPr>
        <p:spPr>
          <a:xfrm>
            <a:off x="727650" y="1291200"/>
            <a:ext cx="4227600" cy="3145500"/>
          </a:xfrm>
          <a:prstGeom prst="rect">
            <a:avLst/>
          </a:prstGeom>
        </p:spPr>
        <p:txBody>
          <a:bodyPr anchorCtr="0" anchor="ctr" bIns="91425" lIns="91425" spcFirstLastPara="1" rIns="91425" wrap="square" tIns="91425">
            <a:noAutofit/>
          </a:bodyPr>
          <a:lstStyle/>
          <a:p>
            <a:pPr indent="0" lvl="0" marL="0" rtl="0" algn="l">
              <a:lnSpc>
                <a:spcPct val="100000"/>
              </a:lnSpc>
              <a:spcBef>
                <a:spcPts val="1000"/>
              </a:spcBef>
              <a:spcAft>
                <a:spcPts val="0"/>
              </a:spcAft>
              <a:buNone/>
            </a:pPr>
            <a:r>
              <a:t/>
            </a:r>
            <a:endParaRPr sz="1600"/>
          </a:p>
          <a:p>
            <a:pPr indent="0" lvl="0" marL="0" rtl="0" algn="l">
              <a:lnSpc>
                <a:spcPct val="100000"/>
              </a:lnSpc>
              <a:spcBef>
                <a:spcPts val="1000"/>
              </a:spcBef>
              <a:spcAft>
                <a:spcPts val="0"/>
              </a:spcAft>
              <a:buNone/>
            </a:pPr>
            <a:r>
              <a:t/>
            </a:r>
            <a:endParaRPr sz="1600"/>
          </a:p>
          <a:p>
            <a:pPr indent="0" lvl="0" marL="0" rtl="0" algn="l">
              <a:lnSpc>
                <a:spcPct val="200000"/>
              </a:lnSpc>
              <a:spcBef>
                <a:spcPts val="1000"/>
              </a:spcBef>
              <a:spcAft>
                <a:spcPts val="0"/>
              </a:spcAft>
              <a:buNone/>
            </a:pPr>
            <a:r>
              <a:t/>
            </a:r>
            <a:endParaRPr sz="1600"/>
          </a:p>
          <a:p>
            <a:pPr indent="0" lvl="0" marL="0" rtl="0" algn="l">
              <a:lnSpc>
                <a:spcPct val="200000"/>
              </a:lnSpc>
              <a:spcBef>
                <a:spcPts val="1000"/>
              </a:spcBef>
              <a:spcAft>
                <a:spcPts val="0"/>
              </a:spcAft>
              <a:buNone/>
            </a:pPr>
            <a:r>
              <a:t/>
            </a:r>
            <a:endParaRPr sz="1600"/>
          </a:p>
          <a:p>
            <a:pPr indent="-330200" lvl="0" marL="457200" rtl="0" algn="l">
              <a:lnSpc>
                <a:spcPct val="200000"/>
              </a:lnSpc>
              <a:spcBef>
                <a:spcPts val="1000"/>
              </a:spcBef>
              <a:spcAft>
                <a:spcPts val="0"/>
              </a:spcAft>
              <a:buSzPts val="1600"/>
              <a:buChar char="●"/>
            </a:pPr>
            <a:r>
              <a:rPr lang="es" sz="1600"/>
              <a:t>Mercado Laboral</a:t>
            </a:r>
            <a:endParaRPr sz="1600"/>
          </a:p>
          <a:p>
            <a:pPr indent="-330200" lvl="0" marL="457200" rtl="0" algn="l">
              <a:lnSpc>
                <a:spcPct val="200000"/>
              </a:lnSpc>
              <a:spcBef>
                <a:spcPts val="0"/>
              </a:spcBef>
              <a:spcAft>
                <a:spcPts val="0"/>
              </a:spcAft>
              <a:buSzPts val="1600"/>
              <a:buChar char="●"/>
            </a:pPr>
            <a:r>
              <a:rPr lang="es" sz="1600"/>
              <a:t>Trascender una asignatura</a:t>
            </a:r>
            <a:endParaRPr sz="1600"/>
          </a:p>
          <a:p>
            <a:pPr indent="-330200" lvl="0" marL="457200" rtl="0" algn="l">
              <a:lnSpc>
                <a:spcPct val="200000"/>
              </a:lnSpc>
              <a:spcBef>
                <a:spcPts val="0"/>
              </a:spcBef>
              <a:spcAft>
                <a:spcPts val="0"/>
              </a:spcAft>
              <a:buSzPts val="1600"/>
              <a:buChar char="●"/>
            </a:pPr>
            <a:r>
              <a:rPr lang="es" sz="1600"/>
              <a:t>Oportunidad en la comunidad Duoc</a:t>
            </a:r>
            <a:endParaRPr sz="1600"/>
          </a:p>
          <a:p>
            <a:pPr indent="0" lvl="0" marL="0" rtl="0" algn="l">
              <a:lnSpc>
                <a:spcPct val="100000"/>
              </a:lnSpc>
              <a:spcBef>
                <a:spcPts val="1000"/>
              </a:spcBef>
              <a:spcAft>
                <a:spcPts val="0"/>
              </a:spcAft>
              <a:buNone/>
            </a:pPr>
            <a:r>
              <a:t/>
            </a:r>
            <a:endParaRPr sz="1600"/>
          </a:p>
          <a:p>
            <a:pPr indent="0" lvl="0" marL="0" rtl="0" algn="l">
              <a:spcBef>
                <a:spcPts val="0"/>
              </a:spcBef>
              <a:spcAft>
                <a:spcPts val="0"/>
              </a:spcAft>
              <a:buNone/>
            </a:pPr>
            <a:r>
              <a:t/>
            </a:r>
            <a:endParaRPr sz="6528"/>
          </a:p>
          <a:p>
            <a:pPr indent="0" lvl="0" marL="0" rtl="0" algn="l">
              <a:spcBef>
                <a:spcPts val="1200"/>
              </a:spcBef>
              <a:spcAft>
                <a:spcPts val="1200"/>
              </a:spcAft>
              <a:buNone/>
            </a:pPr>
            <a:r>
              <a:t/>
            </a:r>
            <a:endParaRPr/>
          </a:p>
        </p:txBody>
      </p:sp>
      <p:pic>
        <p:nvPicPr>
          <p:cNvPr id="113" name="Google Shape;113;p16"/>
          <p:cNvPicPr preferRelativeResize="0"/>
          <p:nvPr/>
        </p:nvPicPr>
        <p:blipFill>
          <a:blip r:embed="rId4">
            <a:alphaModFix/>
          </a:blip>
          <a:stretch>
            <a:fillRect/>
          </a:stretch>
        </p:blipFill>
        <p:spPr>
          <a:xfrm>
            <a:off x="7102900" y="2491259"/>
            <a:ext cx="1527325" cy="2329166"/>
          </a:xfrm>
          <a:prstGeom prst="rect">
            <a:avLst/>
          </a:prstGeom>
          <a:noFill/>
          <a:ln>
            <a:noFill/>
          </a:ln>
        </p:spPr>
      </p:pic>
      <p:pic>
        <p:nvPicPr>
          <p:cNvPr id="114" name="Google Shape;114;p16"/>
          <p:cNvPicPr preferRelativeResize="0"/>
          <p:nvPr/>
        </p:nvPicPr>
        <p:blipFill>
          <a:blip r:embed="rId5">
            <a:alphaModFix/>
          </a:blip>
          <a:stretch>
            <a:fillRect/>
          </a:stretch>
        </p:blipFill>
        <p:spPr>
          <a:xfrm>
            <a:off x="7102912" y="916275"/>
            <a:ext cx="1527301" cy="15273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p17"/>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20" name="Google Shape;120;p17"/>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Problemática</a:t>
            </a:r>
            <a:r>
              <a:rPr lang="es"/>
              <a:t>	</a:t>
            </a:r>
            <a:endParaRPr/>
          </a:p>
          <a:p>
            <a:pPr indent="0" lvl="0" marL="0" rtl="0" algn="l">
              <a:spcBef>
                <a:spcPts val="0"/>
              </a:spcBef>
              <a:spcAft>
                <a:spcPts val="0"/>
              </a:spcAft>
              <a:buNone/>
            </a:pPr>
            <a:r>
              <a:t/>
            </a:r>
            <a:endParaRPr/>
          </a:p>
        </p:txBody>
      </p:sp>
      <p:sp>
        <p:nvSpPr>
          <p:cNvPr id="121" name="Google Shape;121;p17"/>
          <p:cNvSpPr txBox="1"/>
          <p:nvPr>
            <p:ph idx="1" type="body"/>
          </p:nvPr>
        </p:nvSpPr>
        <p:spPr>
          <a:xfrm>
            <a:off x="727650" y="1291200"/>
            <a:ext cx="4311900" cy="3112200"/>
          </a:xfrm>
          <a:prstGeom prst="rect">
            <a:avLst/>
          </a:prstGeom>
        </p:spPr>
        <p:txBody>
          <a:bodyPr anchorCtr="0" anchor="ctr" bIns="91425" lIns="91425" spcFirstLastPara="1" rIns="91425" wrap="square" tIns="91425">
            <a:noAutofit/>
          </a:bodyPr>
          <a:lstStyle/>
          <a:p>
            <a:pPr indent="-330200" lvl="0" marL="457200" rtl="0" algn="just">
              <a:lnSpc>
                <a:spcPct val="150000"/>
              </a:lnSpc>
              <a:spcBef>
                <a:spcPts val="1000"/>
              </a:spcBef>
              <a:spcAft>
                <a:spcPts val="0"/>
              </a:spcAft>
              <a:buSzPts val="1600"/>
              <a:buChar char="●"/>
            </a:pPr>
            <a:r>
              <a:rPr lang="es" sz="1600"/>
              <a:t>Uso forzado de herramientas</a:t>
            </a:r>
            <a:endParaRPr sz="1600"/>
          </a:p>
          <a:p>
            <a:pPr indent="-330200" lvl="0" marL="457200" rtl="0" algn="just">
              <a:lnSpc>
                <a:spcPct val="150000"/>
              </a:lnSpc>
              <a:spcBef>
                <a:spcPts val="0"/>
              </a:spcBef>
              <a:spcAft>
                <a:spcPts val="0"/>
              </a:spcAft>
              <a:buSzPts val="1600"/>
              <a:buChar char="●"/>
            </a:pPr>
            <a:r>
              <a:rPr lang="es" sz="1600"/>
              <a:t>Falta de flexibilidad</a:t>
            </a:r>
            <a:endParaRPr sz="1600"/>
          </a:p>
          <a:p>
            <a:pPr indent="-330200" lvl="0" marL="457200" rtl="0" algn="just">
              <a:lnSpc>
                <a:spcPct val="150000"/>
              </a:lnSpc>
              <a:spcBef>
                <a:spcPts val="0"/>
              </a:spcBef>
              <a:spcAft>
                <a:spcPts val="0"/>
              </a:spcAft>
              <a:buSzPts val="1600"/>
              <a:buChar char="●"/>
            </a:pPr>
            <a:r>
              <a:rPr lang="es" sz="1600"/>
              <a:t>Necesidad desatendida</a:t>
            </a:r>
            <a:endParaRPr sz="1600"/>
          </a:p>
          <a:p>
            <a:pPr indent="-330200" lvl="0" marL="457200" rtl="0" algn="just">
              <a:lnSpc>
                <a:spcPct val="150000"/>
              </a:lnSpc>
              <a:spcBef>
                <a:spcPts val="0"/>
              </a:spcBef>
              <a:spcAft>
                <a:spcPts val="0"/>
              </a:spcAft>
              <a:buSzPts val="1600"/>
              <a:buChar char="●"/>
            </a:pPr>
            <a:r>
              <a:rPr lang="es" sz="1600"/>
              <a:t>Falta de </a:t>
            </a:r>
            <a:r>
              <a:rPr lang="es" sz="1600"/>
              <a:t>práctica</a:t>
            </a:r>
            <a:endParaRPr/>
          </a:p>
        </p:txBody>
      </p:sp>
      <p:pic>
        <p:nvPicPr>
          <p:cNvPr id="122" name="Google Shape;122;p17"/>
          <p:cNvPicPr preferRelativeResize="0"/>
          <p:nvPr/>
        </p:nvPicPr>
        <p:blipFill>
          <a:blip r:embed="rId4">
            <a:alphaModFix/>
          </a:blip>
          <a:stretch>
            <a:fillRect/>
          </a:stretch>
        </p:blipFill>
        <p:spPr>
          <a:xfrm>
            <a:off x="7243475" y="623375"/>
            <a:ext cx="800450" cy="800450"/>
          </a:xfrm>
          <a:prstGeom prst="rect">
            <a:avLst/>
          </a:prstGeom>
          <a:noFill/>
          <a:ln>
            <a:noFill/>
          </a:ln>
        </p:spPr>
      </p:pic>
      <p:pic>
        <p:nvPicPr>
          <p:cNvPr id="123" name="Google Shape;123;p17"/>
          <p:cNvPicPr preferRelativeResize="0"/>
          <p:nvPr/>
        </p:nvPicPr>
        <p:blipFill>
          <a:blip r:embed="rId5">
            <a:alphaModFix/>
          </a:blip>
          <a:stretch>
            <a:fillRect/>
          </a:stretch>
        </p:blipFill>
        <p:spPr>
          <a:xfrm>
            <a:off x="7173113" y="1556450"/>
            <a:ext cx="941175" cy="941175"/>
          </a:xfrm>
          <a:prstGeom prst="rect">
            <a:avLst/>
          </a:prstGeom>
          <a:noFill/>
          <a:ln>
            <a:noFill/>
          </a:ln>
        </p:spPr>
      </p:pic>
      <p:pic>
        <p:nvPicPr>
          <p:cNvPr id="124" name="Google Shape;124;p17"/>
          <p:cNvPicPr preferRelativeResize="0"/>
          <p:nvPr/>
        </p:nvPicPr>
        <p:blipFill>
          <a:blip r:embed="rId6">
            <a:alphaModFix/>
          </a:blip>
          <a:stretch>
            <a:fillRect/>
          </a:stretch>
        </p:blipFill>
        <p:spPr>
          <a:xfrm>
            <a:off x="6916880" y="2571750"/>
            <a:ext cx="1453633" cy="800450"/>
          </a:xfrm>
          <a:prstGeom prst="rect">
            <a:avLst/>
          </a:prstGeom>
          <a:noFill/>
          <a:ln>
            <a:noFill/>
          </a:ln>
        </p:spPr>
      </p:pic>
      <p:pic>
        <p:nvPicPr>
          <p:cNvPr id="125" name="Google Shape;125;p17"/>
          <p:cNvPicPr preferRelativeResize="0"/>
          <p:nvPr/>
        </p:nvPicPr>
        <p:blipFill>
          <a:blip r:embed="rId7">
            <a:alphaModFix/>
          </a:blip>
          <a:stretch>
            <a:fillRect/>
          </a:stretch>
        </p:blipFill>
        <p:spPr>
          <a:xfrm>
            <a:off x="6960350" y="3563325"/>
            <a:ext cx="1366700" cy="1366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18"/>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31" name="Google Shape;131;p18"/>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Solución	</a:t>
            </a:r>
            <a:endParaRPr/>
          </a:p>
          <a:p>
            <a:pPr indent="0" lvl="0" marL="0" rtl="0" algn="l">
              <a:spcBef>
                <a:spcPts val="0"/>
              </a:spcBef>
              <a:spcAft>
                <a:spcPts val="0"/>
              </a:spcAft>
              <a:buNone/>
            </a:pPr>
            <a:r>
              <a:t/>
            </a:r>
            <a:endParaRPr/>
          </a:p>
        </p:txBody>
      </p:sp>
      <p:sp>
        <p:nvSpPr>
          <p:cNvPr id="132" name="Google Shape;132;p18"/>
          <p:cNvSpPr txBox="1"/>
          <p:nvPr>
            <p:ph idx="1" type="body"/>
          </p:nvPr>
        </p:nvSpPr>
        <p:spPr>
          <a:xfrm>
            <a:off x="727650" y="1330725"/>
            <a:ext cx="5119800" cy="3407400"/>
          </a:xfrm>
          <a:prstGeom prst="rect">
            <a:avLst/>
          </a:prstGeom>
        </p:spPr>
        <p:txBody>
          <a:bodyPr anchorCtr="0" anchor="ctr" bIns="91425" lIns="91425" spcFirstLastPara="1" rIns="91425" wrap="square" tIns="91425">
            <a:normAutofit/>
          </a:bodyPr>
          <a:lstStyle/>
          <a:p>
            <a:pPr indent="0" lvl="0" marL="0" rtl="0" algn="l">
              <a:lnSpc>
                <a:spcPct val="150000"/>
              </a:lnSpc>
              <a:spcBef>
                <a:spcPts val="1000"/>
              </a:spcBef>
              <a:spcAft>
                <a:spcPts val="0"/>
              </a:spcAft>
              <a:buNone/>
            </a:pPr>
            <a:r>
              <a:rPr lang="es" sz="1600"/>
              <a:t>Nuestra propuesta? Una plataforma web que permite a cualquier miembro verificado de la comunidad, publicar sus necesidades </a:t>
            </a:r>
            <a:r>
              <a:rPr lang="es" sz="1600"/>
              <a:t>técnicas</a:t>
            </a:r>
            <a:r>
              <a:rPr lang="es" sz="1600"/>
              <a:t> en un sitio web centralizado</a:t>
            </a:r>
            <a:endParaRPr sz="1600"/>
          </a:p>
          <a:p>
            <a:pPr indent="-330200" lvl="0" marL="457200" rtl="0" algn="l">
              <a:lnSpc>
                <a:spcPct val="150000"/>
              </a:lnSpc>
              <a:spcBef>
                <a:spcPts val="1000"/>
              </a:spcBef>
              <a:spcAft>
                <a:spcPts val="0"/>
              </a:spcAft>
              <a:buSzPts val="1600"/>
              <a:buChar char="●"/>
            </a:pPr>
            <a:r>
              <a:rPr lang="es" sz="1600"/>
              <a:t>Descripción detallada</a:t>
            </a:r>
            <a:endParaRPr sz="1600"/>
          </a:p>
          <a:p>
            <a:pPr indent="-330200" lvl="0" marL="457200" rtl="0" algn="l">
              <a:lnSpc>
                <a:spcPct val="150000"/>
              </a:lnSpc>
              <a:spcBef>
                <a:spcPts val="0"/>
              </a:spcBef>
              <a:spcAft>
                <a:spcPts val="0"/>
              </a:spcAft>
              <a:buSzPts val="1600"/>
              <a:buChar char="●"/>
            </a:pPr>
            <a:r>
              <a:rPr lang="es" sz="1600"/>
              <a:t>Niveles y tiempos definidos</a:t>
            </a:r>
            <a:endParaRPr sz="1600"/>
          </a:p>
          <a:p>
            <a:pPr indent="-330200" lvl="0" marL="457200" rtl="0" algn="l">
              <a:lnSpc>
                <a:spcPct val="150000"/>
              </a:lnSpc>
              <a:spcBef>
                <a:spcPts val="0"/>
              </a:spcBef>
              <a:spcAft>
                <a:spcPts val="0"/>
              </a:spcAft>
              <a:buSzPts val="1600"/>
              <a:buChar char="●"/>
            </a:pPr>
            <a:r>
              <a:rPr lang="es" sz="1600"/>
              <a:t>Flujo </a:t>
            </a:r>
            <a:r>
              <a:rPr lang="es" sz="1600"/>
              <a:t>dinámico</a:t>
            </a:r>
            <a:r>
              <a:rPr lang="es" sz="1600"/>
              <a:t> y flexible</a:t>
            </a:r>
            <a:endParaRPr sz="1600"/>
          </a:p>
          <a:p>
            <a:pPr indent="-330200" lvl="0" marL="457200" rtl="0" algn="l">
              <a:lnSpc>
                <a:spcPct val="150000"/>
              </a:lnSpc>
              <a:spcBef>
                <a:spcPts val="0"/>
              </a:spcBef>
              <a:spcAft>
                <a:spcPts val="0"/>
              </a:spcAft>
              <a:buSzPts val="1600"/>
              <a:buChar char="●"/>
            </a:pPr>
            <a:r>
              <a:rPr lang="es" sz="1600"/>
              <a:t>Beneficio mutuo</a:t>
            </a:r>
            <a:endParaRPr/>
          </a:p>
        </p:txBody>
      </p:sp>
      <p:pic>
        <p:nvPicPr>
          <p:cNvPr id="133" name="Google Shape;133;p18"/>
          <p:cNvPicPr preferRelativeResize="0"/>
          <p:nvPr/>
        </p:nvPicPr>
        <p:blipFill>
          <a:blip r:embed="rId4">
            <a:alphaModFix/>
          </a:blip>
          <a:stretch>
            <a:fillRect/>
          </a:stretch>
        </p:blipFill>
        <p:spPr>
          <a:xfrm>
            <a:off x="5999850" y="1443600"/>
            <a:ext cx="2991751" cy="30559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9"/>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39" name="Google Shape;139;p19"/>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Metodología - Ágil</a:t>
            </a:r>
            <a:endParaRPr/>
          </a:p>
          <a:p>
            <a:pPr indent="0" lvl="0" marL="0" rtl="0" algn="l">
              <a:spcBef>
                <a:spcPts val="0"/>
              </a:spcBef>
              <a:spcAft>
                <a:spcPts val="0"/>
              </a:spcAft>
              <a:buNone/>
            </a:pPr>
            <a:r>
              <a:t/>
            </a:r>
            <a:endParaRPr/>
          </a:p>
        </p:txBody>
      </p:sp>
      <p:sp>
        <p:nvSpPr>
          <p:cNvPr id="140" name="Google Shape;140;p19"/>
          <p:cNvSpPr txBox="1"/>
          <p:nvPr>
            <p:ph idx="1" type="body"/>
          </p:nvPr>
        </p:nvSpPr>
        <p:spPr>
          <a:xfrm>
            <a:off x="727650" y="1499375"/>
            <a:ext cx="5499300" cy="3407400"/>
          </a:xfrm>
          <a:prstGeom prst="rect">
            <a:avLst/>
          </a:prstGeom>
        </p:spPr>
        <p:txBody>
          <a:bodyPr anchorCtr="0" anchor="ctr" bIns="91425" lIns="91425" spcFirstLastPara="1" rIns="91425" wrap="square" tIns="91425">
            <a:normAutofit/>
          </a:bodyPr>
          <a:lstStyle/>
          <a:p>
            <a:pPr indent="0" lvl="0" marL="0" rtl="0" algn="just">
              <a:spcBef>
                <a:spcPts val="0"/>
              </a:spcBef>
              <a:spcAft>
                <a:spcPts val="0"/>
              </a:spcAft>
              <a:buNone/>
            </a:pPr>
            <a:r>
              <a:rPr lang="es" sz="1600">
                <a:solidFill>
                  <a:srgbClr val="000000"/>
                </a:solidFill>
              </a:rPr>
              <a:t>Para asegurar el control y la calidad del desarrollo a lo largo de las 18 semanas, la ejecución se estructurará bajo un marco de trabajo ágil adaptado al estándar de la industria, dividiendo el ciclo de vida en sprints quincenales de dos semanas, sin embargo estos </a:t>
            </a:r>
            <a:r>
              <a:rPr lang="es" sz="1600">
                <a:solidFill>
                  <a:srgbClr val="000000"/>
                </a:solidFill>
              </a:rPr>
              <a:t>podrán</a:t>
            </a:r>
            <a:r>
              <a:rPr lang="es" sz="1600">
                <a:solidFill>
                  <a:srgbClr val="000000"/>
                </a:solidFill>
              </a:rPr>
              <a:t> ser extendidos de forma adaptativa según la complejidad técnica </a:t>
            </a:r>
            <a:endParaRPr sz="6928"/>
          </a:p>
          <a:p>
            <a:pPr indent="0" lvl="0" marL="0" rtl="0" algn="l">
              <a:spcBef>
                <a:spcPts val="0"/>
              </a:spcBef>
              <a:spcAft>
                <a:spcPts val="0"/>
              </a:spcAft>
              <a:buNone/>
            </a:pPr>
            <a:r>
              <a:t/>
            </a:r>
            <a:endParaRPr sz="6528"/>
          </a:p>
          <a:p>
            <a:pPr indent="0" lvl="0" marL="0" rtl="0" algn="l">
              <a:spcBef>
                <a:spcPts val="1200"/>
              </a:spcBef>
              <a:spcAft>
                <a:spcPts val="1200"/>
              </a:spcAft>
              <a:buNone/>
            </a:pPr>
            <a:r>
              <a:t/>
            </a:r>
            <a:endParaRPr/>
          </a:p>
        </p:txBody>
      </p:sp>
      <p:pic>
        <p:nvPicPr>
          <p:cNvPr id="141" name="Google Shape;141;p19"/>
          <p:cNvPicPr preferRelativeResize="0"/>
          <p:nvPr/>
        </p:nvPicPr>
        <p:blipFill>
          <a:blip r:embed="rId4">
            <a:alphaModFix/>
          </a:blip>
          <a:stretch>
            <a:fillRect/>
          </a:stretch>
        </p:blipFill>
        <p:spPr>
          <a:xfrm>
            <a:off x="6379350" y="1443600"/>
            <a:ext cx="2612249" cy="191750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0"/>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47" name="Google Shape;147;p20"/>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Roles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8" name="Google Shape;148;p20"/>
          <p:cNvSpPr txBox="1"/>
          <p:nvPr/>
        </p:nvSpPr>
        <p:spPr>
          <a:xfrm>
            <a:off x="727650" y="1472900"/>
            <a:ext cx="8250000" cy="320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300">
                <a:solidFill>
                  <a:schemeClr val="accent1"/>
                </a:solidFill>
                <a:latin typeface="Lato"/>
                <a:ea typeface="Lato"/>
                <a:cs typeface="Lato"/>
                <a:sym typeface="Lato"/>
              </a:rPr>
              <a:t>El equipo de trabajo está compuesto por dos integrantes, quienes compartirán responsabilidades transversales relacionadas con el desarrollo, pruebas, documentación y seguimiento del proyecto. No obstante, cada integrante mantendrá un foco principal.</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b="1" lang="es" sz="1300">
                <a:solidFill>
                  <a:schemeClr val="accent1"/>
                </a:solidFill>
                <a:latin typeface="Lato"/>
                <a:ea typeface="Lato"/>
                <a:cs typeface="Lato"/>
                <a:sym typeface="Lato"/>
              </a:rPr>
              <a:t>Martín Salas (Product Owner &amp; Lead Frontend):</a:t>
            </a:r>
            <a:r>
              <a:rPr lang="es" sz="1300">
                <a:solidFill>
                  <a:schemeClr val="accent1"/>
                </a:solidFill>
                <a:latin typeface="Lato"/>
                <a:ea typeface="Lato"/>
                <a:cs typeface="Lato"/>
                <a:sym typeface="Lato"/>
              </a:rPr>
              <a:t> Liderazgo de la visión de producto, priorización de requerimientos, desarrollo de interfaz en Next.js, UX e interfaz del tutorial de Git/GitHub.</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b="1" lang="es" sz="1300">
                <a:solidFill>
                  <a:schemeClr val="accent1"/>
                </a:solidFill>
                <a:latin typeface="Lato"/>
                <a:ea typeface="Lato"/>
                <a:cs typeface="Lato"/>
                <a:sym typeface="Lato"/>
              </a:rPr>
              <a:t>Martín Pero (Lead Backend &amp; DevOps):</a:t>
            </a:r>
            <a:r>
              <a:rPr lang="es" sz="1300">
                <a:solidFill>
                  <a:schemeClr val="accent1"/>
                </a:solidFill>
                <a:latin typeface="Lato"/>
                <a:ea typeface="Lato"/>
                <a:cs typeface="Lato"/>
                <a:sym typeface="Lato"/>
              </a:rPr>
              <a:t> Arquitectura del servidor, base de datos con PostgreSQL y Prisma ORM, seguridad con Auth.js, integración de Webhooks y despliegue.</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rPr lang="es" sz="1300">
                <a:solidFill>
                  <a:schemeClr val="accent1"/>
                </a:solidFill>
                <a:latin typeface="Lato"/>
                <a:ea typeface="Lato"/>
                <a:cs typeface="Lato"/>
                <a:sym typeface="Lato"/>
              </a:rPr>
              <a:t>Responsabilidades compartidas: Gestión de Scrum Master, aseguramiento de calidad (QA) cruzado y desarrollo colaborativo en un flujo coordinado mediante Git y GitHub.</a:t>
            </a:r>
            <a:endParaRPr sz="1300">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1"/>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54" name="Google Shape;154;p21"/>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Plan</a:t>
            </a:r>
            <a:endParaRPr/>
          </a:p>
          <a:p>
            <a:pPr indent="0" lvl="0" marL="0" rtl="0" algn="l">
              <a:spcBef>
                <a:spcPts val="0"/>
              </a:spcBef>
              <a:spcAft>
                <a:spcPts val="0"/>
              </a:spcAft>
              <a:buNone/>
            </a:pPr>
            <a:r>
              <a:t/>
            </a:r>
            <a:endParaRPr/>
          </a:p>
        </p:txBody>
      </p:sp>
      <p:pic>
        <p:nvPicPr>
          <p:cNvPr id="155" name="Google Shape;155;p21"/>
          <p:cNvPicPr preferRelativeResize="0"/>
          <p:nvPr/>
        </p:nvPicPr>
        <p:blipFill>
          <a:blip r:embed="rId4">
            <a:alphaModFix/>
          </a:blip>
          <a:stretch>
            <a:fillRect/>
          </a:stretch>
        </p:blipFill>
        <p:spPr>
          <a:xfrm>
            <a:off x="342100" y="1345225"/>
            <a:ext cx="4294342" cy="3547500"/>
          </a:xfrm>
          <a:prstGeom prst="rect">
            <a:avLst/>
          </a:prstGeom>
          <a:noFill/>
          <a:ln>
            <a:noFill/>
          </a:ln>
        </p:spPr>
      </p:pic>
      <p:pic>
        <p:nvPicPr>
          <p:cNvPr id="156" name="Google Shape;156;p21"/>
          <p:cNvPicPr preferRelativeResize="0"/>
          <p:nvPr/>
        </p:nvPicPr>
        <p:blipFill>
          <a:blip r:embed="rId5">
            <a:alphaModFix/>
          </a:blip>
          <a:stretch>
            <a:fillRect/>
          </a:stretch>
        </p:blipFill>
        <p:spPr>
          <a:xfrm>
            <a:off x="4636450" y="1653925"/>
            <a:ext cx="4202749" cy="3197274"/>
          </a:xfrm>
          <a:prstGeom prst="rect">
            <a:avLst/>
          </a:prstGeom>
          <a:noFill/>
          <a:ln>
            <a:noFill/>
          </a:ln>
        </p:spPr>
      </p:pic>
      <p:pic>
        <p:nvPicPr>
          <p:cNvPr id="157" name="Google Shape;157;p21"/>
          <p:cNvPicPr preferRelativeResize="0"/>
          <p:nvPr/>
        </p:nvPicPr>
        <p:blipFill>
          <a:blip r:embed="rId6">
            <a:alphaModFix/>
          </a:blip>
          <a:stretch>
            <a:fillRect/>
          </a:stretch>
        </p:blipFill>
        <p:spPr>
          <a:xfrm>
            <a:off x="4695200" y="1345225"/>
            <a:ext cx="4105901" cy="3650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22"/>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63" name="Google Shape;163;p22"/>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Arquitectura</a:t>
            </a:r>
            <a:r>
              <a:rPr lang="es"/>
              <a:t>	</a:t>
            </a:r>
            <a:endParaRPr/>
          </a:p>
          <a:p>
            <a:pPr indent="0" lvl="0" marL="0" rtl="0" algn="l">
              <a:spcBef>
                <a:spcPts val="0"/>
              </a:spcBef>
              <a:spcAft>
                <a:spcPts val="0"/>
              </a:spcAft>
              <a:buNone/>
            </a:pPr>
            <a:r>
              <a:t/>
            </a:r>
            <a:endParaRPr/>
          </a:p>
        </p:txBody>
      </p:sp>
      <p:sp>
        <p:nvSpPr>
          <p:cNvPr id="164" name="Google Shape;164;p22"/>
          <p:cNvSpPr txBox="1"/>
          <p:nvPr>
            <p:ph idx="1" type="body"/>
          </p:nvPr>
        </p:nvSpPr>
        <p:spPr>
          <a:xfrm>
            <a:off x="608175" y="1291200"/>
            <a:ext cx="3215700" cy="3407400"/>
          </a:xfrm>
          <a:prstGeom prst="rect">
            <a:avLst/>
          </a:prstGeom>
        </p:spPr>
        <p:txBody>
          <a:bodyPr anchorCtr="0" anchor="ctr" bIns="91425" lIns="91425" spcFirstLastPara="1" rIns="91425" wrap="square" tIns="91425">
            <a:normAutofit/>
          </a:bodyPr>
          <a:lstStyle/>
          <a:p>
            <a:pPr indent="0" lvl="0" marL="457200" rtl="0" algn="l">
              <a:lnSpc>
                <a:spcPct val="100000"/>
              </a:lnSpc>
              <a:spcBef>
                <a:spcPts val="1000"/>
              </a:spcBef>
              <a:spcAft>
                <a:spcPts val="0"/>
              </a:spcAft>
              <a:buNone/>
            </a:pPr>
            <a:r>
              <a:t/>
            </a:r>
            <a:endParaRPr sz="1600"/>
          </a:p>
          <a:p>
            <a:pPr indent="-330200" lvl="0" marL="457200" rtl="0" algn="l">
              <a:lnSpc>
                <a:spcPct val="150000"/>
              </a:lnSpc>
              <a:spcBef>
                <a:spcPts val="0"/>
              </a:spcBef>
              <a:spcAft>
                <a:spcPts val="0"/>
              </a:spcAft>
              <a:buSzPts val="1600"/>
              <a:buChar char="●"/>
            </a:pPr>
            <a:r>
              <a:rPr lang="es" sz="1600"/>
              <a:t>Frontend</a:t>
            </a:r>
            <a:endParaRPr sz="1600"/>
          </a:p>
          <a:p>
            <a:pPr indent="-330200" lvl="0" marL="457200" rtl="0" algn="l">
              <a:lnSpc>
                <a:spcPct val="150000"/>
              </a:lnSpc>
              <a:spcBef>
                <a:spcPts val="0"/>
              </a:spcBef>
              <a:spcAft>
                <a:spcPts val="0"/>
              </a:spcAft>
              <a:buSzPts val="1600"/>
              <a:buChar char="●"/>
            </a:pPr>
            <a:r>
              <a:rPr lang="es" sz="1600"/>
              <a:t>Lógica</a:t>
            </a:r>
            <a:r>
              <a:rPr lang="es" sz="1600"/>
              <a:t> y </a:t>
            </a:r>
            <a:r>
              <a:rPr lang="es" sz="1600"/>
              <a:t>Validación</a:t>
            </a:r>
            <a:endParaRPr sz="1600"/>
          </a:p>
          <a:p>
            <a:pPr indent="-330200" lvl="0" marL="457200" rtl="0" algn="l">
              <a:lnSpc>
                <a:spcPct val="150000"/>
              </a:lnSpc>
              <a:spcBef>
                <a:spcPts val="0"/>
              </a:spcBef>
              <a:spcAft>
                <a:spcPts val="0"/>
              </a:spcAft>
              <a:buSzPts val="1600"/>
              <a:buChar char="●"/>
            </a:pPr>
            <a:r>
              <a:rPr lang="es" sz="1600"/>
              <a:t>Persistencia</a:t>
            </a:r>
            <a:endParaRPr sz="1600"/>
          </a:p>
          <a:p>
            <a:pPr indent="-330200" lvl="0" marL="457200" rtl="0" algn="l">
              <a:lnSpc>
                <a:spcPct val="150000"/>
              </a:lnSpc>
              <a:spcBef>
                <a:spcPts val="0"/>
              </a:spcBef>
              <a:spcAft>
                <a:spcPts val="0"/>
              </a:spcAft>
              <a:buSzPts val="1600"/>
              <a:buChar char="●"/>
            </a:pPr>
            <a:r>
              <a:rPr lang="es" sz="1600"/>
              <a:t>Seguridad e Identidad</a:t>
            </a:r>
            <a:endParaRPr sz="1600"/>
          </a:p>
          <a:p>
            <a:pPr indent="0" lvl="0" marL="0" rtl="0" algn="l">
              <a:spcBef>
                <a:spcPts val="1200"/>
              </a:spcBef>
              <a:spcAft>
                <a:spcPts val="1200"/>
              </a:spcAft>
              <a:buNone/>
            </a:pPr>
            <a:r>
              <a:t/>
            </a:r>
            <a:endParaRPr/>
          </a:p>
        </p:txBody>
      </p:sp>
      <p:pic>
        <p:nvPicPr>
          <p:cNvPr id="165" name="Google Shape;165;p22"/>
          <p:cNvPicPr preferRelativeResize="0"/>
          <p:nvPr/>
        </p:nvPicPr>
        <p:blipFill>
          <a:blip r:embed="rId4">
            <a:alphaModFix/>
          </a:blip>
          <a:stretch>
            <a:fillRect/>
          </a:stretch>
        </p:blipFill>
        <p:spPr>
          <a:xfrm>
            <a:off x="6823351" y="756001"/>
            <a:ext cx="1471350" cy="1471350"/>
          </a:xfrm>
          <a:prstGeom prst="rect">
            <a:avLst/>
          </a:prstGeom>
          <a:noFill/>
          <a:ln>
            <a:noFill/>
          </a:ln>
        </p:spPr>
      </p:pic>
      <p:pic>
        <p:nvPicPr>
          <p:cNvPr id="166" name="Google Shape;166;p22"/>
          <p:cNvPicPr preferRelativeResize="0"/>
          <p:nvPr/>
        </p:nvPicPr>
        <p:blipFill>
          <a:blip r:embed="rId5">
            <a:alphaModFix/>
          </a:blip>
          <a:stretch>
            <a:fillRect/>
          </a:stretch>
        </p:blipFill>
        <p:spPr>
          <a:xfrm>
            <a:off x="7548226" y="1955800"/>
            <a:ext cx="746475" cy="615951"/>
          </a:xfrm>
          <a:prstGeom prst="rect">
            <a:avLst/>
          </a:prstGeom>
          <a:noFill/>
          <a:ln>
            <a:noFill/>
          </a:ln>
        </p:spPr>
      </p:pic>
      <p:pic>
        <p:nvPicPr>
          <p:cNvPr id="167" name="Google Shape;167;p22"/>
          <p:cNvPicPr preferRelativeResize="0"/>
          <p:nvPr/>
        </p:nvPicPr>
        <p:blipFill>
          <a:blip r:embed="rId6">
            <a:alphaModFix/>
          </a:blip>
          <a:stretch>
            <a:fillRect/>
          </a:stretch>
        </p:blipFill>
        <p:spPr>
          <a:xfrm>
            <a:off x="6704823" y="1955790"/>
            <a:ext cx="615950" cy="615950"/>
          </a:xfrm>
          <a:prstGeom prst="rect">
            <a:avLst/>
          </a:prstGeom>
          <a:noFill/>
          <a:ln>
            <a:noFill/>
          </a:ln>
        </p:spPr>
      </p:pic>
      <p:pic>
        <p:nvPicPr>
          <p:cNvPr id="168" name="Google Shape;168;p22"/>
          <p:cNvPicPr preferRelativeResize="0"/>
          <p:nvPr/>
        </p:nvPicPr>
        <p:blipFill>
          <a:blip r:embed="rId7">
            <a:alphaModFix/>
          </a:blip>
          <a:stretch>
            <a:fillRect/>
          </a:stretch>
        </p:blipFill>
        <p:spPr>
          <a:xfrm>
            <a:off x="6704827" y="3092630"/>
            <a:ext cx="615950" cy="635195"/>
          </a:xfrm>
          <a:prstGeom prst="rect">
            <a:avLst/>
          </a:prstGeom>
          <a:noFill/>
          <a:ln>
            <a:noFill/>
          </a:ln>
        </p:spPr>
      </p:pic>
      <p:pic>
        <p:nvPicPr>
          <p:cNvPr id="169" name="Google Shape;169;p22"/>
          <p:cNvPicPr preferRelativeResize="0"/>
          <p:nvPr/>
        </p:nvPicPr>
        <p:blipFill>
          <a:blip r:embed="rId8">
            <a:alphaModFix/>
          </a:blip>
          <a:stretch>
            <a:fillRect/>
          </a:stretch>
        </p:blipFill>
        <p:spPr>
          <a:xfrm>
            <a:off x="7444149" y="3164840"/>
            <a:ext cx="1166301" cy="490750"/>
          </a:xfrm>
          <a:prstGeom prst="rect">
            <a:avLst/>
          </a:prstGeom>
          <a:noFill/>
          <a:ln>
            <a:noFill/>
          </a:ln>
        </p:spPr>
      </p:pic>
      <p:pic>
        <p:nvPicPr>
          <p:cNvPr id="170" name="Google Shape;170;p22"/>
          <p:cNvPicPr preferRelativeResize="0"/>
          <p:nvPr/>
        </p:nvPicPr>
        <p:blipFill>
          <a:blip r:embed="rId9">
            <a:alphaModFix/>
          </a:blip>
          <a:stretch>
            <a:fillRect/>
          </a:stretch>
        </p:blipFill>
        <p:spPr>
          <a:xfrm>
            <a:off x="6672201" y="4067962"/>
            <a:ext cx="681200" cy="752037"/>
          </a:xfrm>
          <a:prstGeom prst="rect">
            <a:avLst/>
          </a:prstGeom>
          <a:noFill/>
          <a:ln>
            <a:noFill/>
          </a:ln>
        </p:spPr>
      </p:pic>
      <p:pic>
        <p:nvPicPr>
          <p:cNvPr id="171" name="Google Shape;171;p22"/>
          <p:cNvPicPr preferRelativeResize="0"/>
          <p:nvPr/>
        </p:nvPicPr>
        <p:blipFill>
          <a:blip r:embed="rId10">
            <a:alphaModFix/>
          </a:blip>
          <a:stretch>
            <a:fillRect/>
          </a:stretch>
        </p:blipFill>
        <p:spPr>
          <a:xfrm>
            <a:off x="7686701" y="4102572"/>
            <a:ext cx="681200" cy="68280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23"/>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77" name="Google Shape;177;p23"/>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Competencias</a:t>
            </a:r>
            <a:r>
              <a:rPr lang="es"/>
              <a:t>	</a:t>
            </a:r>
            <a:endParaRPr/>
          </a:p>
          <a:p>
            <a:pPr indent="0" lvl="0" marL="0" rtl="0" algn="l">
              <a:spcBef>
                <a:spcPts val="0"/>
              </a:spcBef>
              <a:spcAft>
                <a:spcPts val="0"/>
              </a:spcAft>
              <a:buNone/>
            </a:pPr>
            <a:r>
              <a:t/>
            </a:r>
            <a:endParaRPr/>
          </a:p>
        </p:txBody>
      </p:sp>
      <p:sp>
        <p:nvSpPr>
          <p:cNvPr id="178" name="Google Shape;178;p23"/>
          <p:cNvSpPr txBox="1"/>
          <p:nvPr>
            <p:ph idx="1" type="body"/>
          </p:nvPr>
        </p:nvSpPr>
        <p:spPr>
          <a:xfrm>
            <a:off x="727650" y="1330725"/>
            <a:ext cx="7747800" cy="3407400"/>
          </a:xfrm>
          <a:prstGeom prst="rect">
            <a:avLst/>
          </a:prstGeom>
        </p:spPr>
        <p:txBody>
          <a:bodyPr anchorCtr="0" anchor="t" bIns="91425" lIns="91425" spcFirstLastPara="1" rIns="91425" wrap="square" tIns="91425">
            <a:normAutofit fontScale="25000" lnSpcReduction="20000"/>
          </a:bodyPr>
          <a:lstStyle/>
          <a:p>
            <a:pPr indent="-332236" lvl="0" marL="457200" rtl="0" algn="l">
              <a:lnSpc>
                <a:spcPct val="150000"/>
              </a:lnSpc>
              <a:spcBef>
                <a:spcPts val="1000"/>
              </a:spcBef>
              <a:spcAft>
                <a:spcPts val="0"/>
              </a:spcAft>
              <a:buSzPct val="100000"/>
              <a:buChar char="●"/>
            </a:pPr>
            <a:r>
              <a:rPr lang="es" sz="6528"/>
              <a:t>Desarrollo Full-Stack: Dominio integral de interfaces, lógica de servidor, APIs y bases de datos relacionales.</a:t>
            </a:r>
            <a:endParaRPr sz="6528"/>
          </a:p>
          <a:p>
            <a:pPr indent="-332236" lvl="0" marL="457200" rtl="0" algn="l">
              <a:lnSpc>
                <a:spcPct val="150000"/>
              </a:lnSpc>
              <a:spcBef>
                <a:spcPts val="1000"/>
              </a:spcBef>
              <a:spcAft>
                <a:spcPts val="0"/>
              </a:spcAft>
              <a:buSzPct val="100000"/>
              <a:buChar char="●"/>
            </a:pPr>
            <a:r>
              <a:rPr lang="es" sz="6528"/>
              <a:t>Control de versiones avanzado: Uso profesional de Git y GitHub para flujos de trabajo colaborativos reales.</a:t>
            </a:r>
            <a:endParaRPr sz="6528"/>
          </a:p>
          <a:p>
            <a:pPr indent="-332236" lvl="0" marL="457200" rtl="0" algn="l">
              <a:lnSpc>
                <a:spcPct val="150000"/>
              </a:lnSpc>
              <a:spcBef>
                <a:spcPts val="1000"/>
              </a:spcBef>
              <a:spcAft>
                <a:spcPts val="0"/>
              </a:spcAft>
              <a:buSzPct val="100000"/>
              <a:buChar char="●"/>
            </a:pPr>
            <a:r>
              <a:rPr lang="es" sz="6528"/>
              <a:t>Gestión ágil: Aplicación práctica de metodologías ágiles mediante entregas incrementales y adaptación de sprints.</a:t>
            </a:r>
            <a:endParaRPr sz="6528"/>
          </a:p>
          <a:p>
            <a:pPr indent="-332236" lvl="0" marL="457200" rtl="0" algn="l">
              <a:lnSpc>
                <a:spcPct val="150000"/>
              </a:lnSpc>
              <a:spcBef>
                <a:spcPts val="1000"/>
              </a:spcBef>
              <a:spcAft>
                <a:spcPts val="0"/>
              </a:spcAft>
              <a:buSzPct val="100000"/>
              <a:buChar char="●"/>
            </a:pPr>
            <a:r>
              <a:rPr lang="es" sz="6528"/>
              <a:t>Arquitectura y seguridad: Implementación de un diseño de software modular, limpio y seguro.</a:t>
            </a:r>
            <a:endParaRPr sz="6528"/>
          </a:p>
          <a:p>
            <a:pPr indent="0" lvl="0" marL="0" rtl="0" algn="l">
              <a:spcBef>
                <a:spcPts val="1000"/>
              </a:spcBef>
              <a:spcAft>
                <a:spcPts val="0"/>
              </a:spcAft>
              <a:buNone/>
            </a:pPr>
            <a:r>
              <a:t/>
            </a:r>
            <a:endParaRPr sz="6528"/>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4"/>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84" name="Google Shape;184;p24"/>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Riesgos</a:t>
            </a:r>
            <a:r>
              <a:rPr lang="es"/>
              <a:t>	</a:t>
            </a:r>
            <a:endParaRPr/>
          </a:p>
          <a:p>
            <a:pPr indent="0" lvl="0" marL="0" rtl="0" algn="l">
              <a:spcBef>
                <a:spcPts val="0"/>
              </a:spcBef>
              <a:spcAft>
                <a:spcPts val="0"/>
              </a:spcAft>
              <a:buNone/>
            </a:pPr>
            <a:r>
              <a:t/>
            </a:r>
            <a:endParaRPr/>
          </a:p>
        </p:txBody>
      </p:sp>
      <p:sp>
        <p:nvSpPr>
          <p:cNvPr id="185" name="Google Shape;185;p24"/>
          <p:cNvSpPr txBox="1"/>
          <p:nvPr>
            <p:ph idx="1" type="body"/>
          </p:nvPr>
        </p:nvSpPr>
        <p:spPr>
          <a:xfrm>
            <a:off x="727650" y="1330725"/>
            <a:ext cx="7688700" cy="34074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1000"/>
              </a:spcBef>
              <a:spcAft>
                <a:spcPts val="0"/>
              </a:spcAft>
              <a:buSzPts val="1600"/>
              <a:buChar char="●"/>
            </a:pPr>
            <a:r>
              <a:rPr lang="es" sz="1600"/>
              <a:t>Fraude académico: Mitigado con autenticación dual obligatoria (GitHub + cuenta institucional Duoc/Microsoft) para eliminar el anonimato.</a:t>
            </a:r>
            <a:endParaRPr sz="1600"/>
          </a:p>
          <a:p>
            <a:pPr indent="-330200" lvl="0" marL="457200" rtl="0" algn="l">
              <a:lnSpc>
                <a:spcPct val="150000"/>
              </a:lnSpc>
              <a:spcBef>
                <a:spcPts val="1000"/>
              </a:spcBef>
              <a:spcAft>
                <a:spcPts val="0"/>
              </a:spcAft>
              <a:buSzPts val="1600"/>
              <a:buChar char="●"/>
            </a:pPr>
            <a:r>
              <a:rPr lang="es" sz="1600"/>
              <a:t>Abandono de tareas: Controlado mediante timeouts automáticos por inactividad y colas de alumnos en reserva.</a:t>
            </a:r>
            <a:endParaRPr sz="1600"/>
          </a:p>
          <a:p>
            <a:pPr indent="-330200" lvl="0" marL="457200" rtl="0" algn="l">
              <a:lnSpc>
                <a:spcPct val="150000"/>
              </a:lnSpc>
              <a:spcBef>
                <a:spcPts val="1000"/>
              </a:spcBef>
              <a:spcAft>
                <a:spcPts val="0"/>
              </a:spcAft>
              <a:buSzPts val="1600"/>
              <a:buChar char="●"/>
            </a:pPr>
            <a:r>
              <a:rPr lang="es" sz="1600"/>
              <a:t>Sobrecarga de trabajo: Restricción de postulaciones simultáneas en paralelo según el nivel de avance del usuario.</a:t>
            </a:r>
            <a:endParaRPr sz="1600"/>
          </a:p>
          <a:p>
            <a:pPr indent="-330200" lvl="0" marL="457200" rtl="0" algn="l">
              <a:lnSpc>
                <a:spcPct val="150000"/>
              </a:lnSpc>
              <a:spcBef>
                <a:spcPts val="1000"/>
              </a:spcBef>
              <a:spcAft>
                <a:spcPts val="0"/>
              </a:spcAft>
              <a:buSzPts val="1600"/>
              <a:buChar char="●"/>
            </a:pPr>
            <a:r>
              <a:rPr lang="es" sz="1600"/>
              <a:t>Brecha técnica inicial: Abordada mediante una sección de mini tutoriales interactivos de Git y GitHub integrados.</a:t>
            </a:r>
            <a:endParaRPr sz="1600"/>
          </a:p>
          <a:p>
            <a:pPr indent="0" lvl="0" marL="0" rtl="0" algn="l">
              <a:spcBef>
                <a:spcPts val="1000"/>
              </a:spcBef>
              <a:spcAft>
                <a:spcPts val="0"/>
              </a:spcAft>
              <a:buNone/>
            </a:pPr>
            <a:r>
              <a:t/>
            </a:r>
            <a:endParaRPr sz="6528"/>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5"/>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91" name="Google Shape;191;p25"/>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Seguridad</a:t>
            </a:r>
            <a:endParaRPr/>
          </a:p>
          <a:p>
            <a:pPr indent="0" lvl="0" marL="0" rtl="0" algn="l">
              <a:spcBef>
                <a:spcPts val="0"/>
              </a:spcBef>
              <a:spcAft>
                <a:spcPts val="0"/>
              </a:spcAft>
              <a:buNone/>
            </a:pPr>
            <a:r>
              <a:t/>
            </a:r>
            <a:endParaRPr/>
          </a:p>
        </p:txBody>
      </p:sp>
      <p:sp>
        <p:nvSpPr>
          <p:cNvPr id="192" name="Google Shape;192;p25"/>
          <p:cNvSpPr txBox="1"/>
          <p:nvPr>
            <p:ph idx="1" type="body"/>
          </p:nvPr>
        </p:nvSpPr>
        <p:spPr>
          <a:xfrm>
            <a:off x="727650" y="1291200"/>
            <a:ext cx="7688700" cy="3407400"/>
          </a:xfrm>
          <a:prstGeom prst="rect">
            <a:avLst/>
          </a:prstGeom>
        </p:spPr>
        <p:txBody>
          <a:bodyPr anchorCtr="0" anchor="ctr" bIns="91425" lIns="91425" spcFirstLastPara="1" rIns="91425" wrap="square" tIns="91425">
            <a:noAutofit/>
          </a:bodyPr>
          <a:lstStyle/>
          <a:p>
            <a:pPr indent="-317740" lvl="0" marL="457200" rtl="0" algn="l">
              <a:lnSpc>
                <a:spcPct val="150000"/>
              </a:lnSpc>
              <a:spcBef>
                <a:spcPts val="1000"/>
              </a:spcBef>
              <a:spcAft>
                <a:spcPts val="0"/>
              </a:spcAft>
              <a:buSzPts val="1404"/>
              <a:buChar char="●"/>
            </a:pPr>
            <a:r>
              <a:rPr lang="es" sz="1404"/>
              <a:t>Autenticación dual: Github + cuenta institucional Duoc UC.</a:t>
            </a:r>
            <a:endParaRPr sz="1404"/>
          </a:p>
          <a:p>
            <a:pPr indent="-317740" lvl="0" marL="457200" rtl="0" algn="l">
              <a:lnSpc>
                <a:spcPct val="150000"/>
              </a:lnSpc>
              <a:spcBef>
                <a:spcPts val="0"/>
              </a:spcBef>
              <a:spcAft>
                <a:spcPts val="0"/>
              </a:spcAft>
              <a:buSzPts val="1404"/>
              <a:buChar char="●"/>
            </a:pPr>
            <a:r>
              <a:rPr lang="es" sz="1404"/>
              <a:t>Control de acceso  por roles</a:t>
            </a:r>
            <a:endParaRPr sz="1404"/>
          </a:p>
          <a:p>
            <a:pPr indent="-317740" lvl="0" marL="457200" rtl="0" algn="l">
              <a:lnSpc>
                <a:spcPct val="150000"/>
              </a:lnSpc>
              <a:spcBef>
                <a:spcPts val="0"/>
              </a:spcBef>
              <a:spcAft>
                <a:spcPts val="0"/>
              </a:spcAft>
              <a:buSzPts val="1404"/>
              <a:buChar char="●"/>
            </a:pPr>
            <a:r>
              <a:rPr lang="es" sz="1404"/>
              <a:t>Protección de Webshock: validación mediante  HMAC.</a:t>
            </a:r>
            <a:endParaRPr sz="1404"/>
          </a:p>
          <a:p>
            <a:pPr indent="-317740" lvl="0" marL="457200" rtl="0" algn="l">
              <a:lnSpc>
                <a:spcPct val="150000"/>
              </a:lnSpc>
              <a:spcBef>
                <a:spcPts val="0"/>
              </a:spcBef>
              <a:spcAft>
                <a:spcPts val="0"/>
              </a:spcAft>
              <a:buSzPts val="1404"/>
              <a:buChar char="●"/>
            </a:pPr>
            <a:r>
              <a:rPr lang="es" sz="1404"/>
              <a:t>Validación de Datos: uso de Zod para evitar información inválida o maliciosa.</a:t>
            </a:r>
            <a:endParaRPr sz="1404"/>
          </a:p>
          <a:p>
            <a:pPr indent="-317740" lvl="0" marL="457200" rtl="0" algn="l">
              <a:lnSpc>
                <a:spcPct val="150000"/>
              </a:lnSpc>
              <a:spcBef>
                <a:spcPts val="0"/>
              </a:spcBef>
              <a:spcAft>
                <a:spcPts val="0"/>
              </a:spcAft>
              <a:buSzPts val="1404"/>
              <a:buChar char="●"/>
            </a:pPr>
            <a:r>
              <a:rPr lang="es" sz="1404"/>
              <a:t>Protección de Credenciales: uso de variables de entorno para datos sensibles.</a:t>
            </a:r>
            <a:endParaRPr sz="1404"/>
          </a:p>
          <a:p>
            <a:pPr indent="-317740" lvl="0" marL="457200" rtl="0" algn="l">
              <a:lnSpc>
                <a:spcPct val="150000"/>
              </a:lnSpc>
              <a:spcBef>
                <a:spcPts val="0"/>
              </a:spcBef>
              <a:spcAft>
                <a:spcPts val="0"/>
              </a:spcAft>
              <a:buSzPts val="1404"/>
              <a:buChar char="●"/>
            </a:pPr>
            <a:r>
              <a:rPr lang="es" sz="1404"/>
              <a:t>Auditoría: registro de actividades y eventos importantes.</a:t>
            </a:r>
            <a:endParaRPr sz="1404"/>
          </a:p>
          <a:p>
            <a:pPr indent="-317740" lvl="0" marL="457200" rtl="0" algn="l">
              <a:lnSpc>
                <a:spcPct val="150000"/>
              </a:lnSpc>
              <a:spcBef>
                <a:spcPts val="0"/>
              </a:spcBef>
              <a:spcAft>
                <a:spcPts val="0"/>
              </a:spcAft>
              <a:buSzPts val="1404"/>
              <a:buChar char="●"/>
            </a:pPr>
            <a:r>
              <a:rPr lang="es" sz="1404"/>
              <a:t>Con esto buscamos la identidad de los usuarios, la información de las tareas y las comunicación  con GitHub.</a:t>
            </a:r>
            <a:endParaRPr sz="6528"/>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6"/>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198" name="Google Shape;198;p26"/>
          <p:cNvSpPr txBox="1"/>
          <p:nvPr>
            <p:ph type="title"/>
          </p:nvPr>
        </p:nvSpPr>
        <p:spPr>
          <a:xfrm>
            <a:off x="727650" y="756538"/>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 negocio</a:t>
            </a:r>
            <a:r>
              <a:rPr lang="es"/>
              <a:t>	</a:t>
            </a:r>
            <a:endParaRPr/>
          </a:p>
          <a:p>
            <a:pPr indent="0" lvl="0" marL="0" rtl="0" algn="l">
              <a:spcBef>
                <a:spcPts val="0"/>
              </a:spcBef>
              <a:spcAft>
                <a:spcPts val="0"/>
              </a:spcAft>
              <a:buNone/>
            </a:pPr>
            <a:r>
              <a:t/>
            </a:r>
            <a:endParaRPr/>
          </a:p>
        </p:txBody>
      </p:sp>
      <p:sp>
        <p:nvSpPr>
          <p:cNvPr id="199" name="Google Shape;199;p26"/>
          <p:cNvSpPr txBox="1"/>
          <p:nvPr>
            <p:ph idx="1" type="body"/>
          </p:nvPr>
        </p:nvSpPr>
        <p:spPr>
          <a:xfrm>
            <a:off x="72775" y="1516625"/>
            <a:ext cx="2871300" cy="34074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000"/>
              </a:spcBef>
              <a:spcAft>
                <a:spcPts val="0"/>
              </a:spcAft>
              <a:buNone/>
            </a:pPr>
            <a:r>
              <a:rPr lang="es"/>
              <a:t>Bug Hunter se concibe inicialmente como una plataforma web de carácter comunitario y sin fines de lucro, diseñada para ofrecer un espacio gratuito y seguro de colaboración.</a:t>
            </a:r>
            <a:endParaRPr sz="1000"/>
          </a:p>
        </p:txBody>
      </p:sp>
      <p:sp>
        <p:nvSpPr>
          <p:cNvPr id="200" name="Google Shape;200;p26"/>
          <p:cNvSpPr txBox="1"/>
          <p:nvPr>
            <p:ph idx="1" type="body"/>
          </p:nvPr>
        </p:nvSpPr>
        <p:spPr>
          <a:xfrm>
            <a:off x="3106038" y="1516625"/>
            <a:ext cx="2872800" cy="34074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lnSpc>
                <a:spcPct val="115000"/>
              </a:lnSpc>
              <a:spcBef>
                <a:spcPts val="1000"/>
              </a:spcBef>
              <a:spcAft>
                <a:spcPts val="0"/>
              </a:spcAft>
              <a:buNone/>
            </a:pPr>
            <a:r>
              <a:rPr lang="es"/>
              <a:t>Si bien en esta etapa de desarrollo el proyecto no contempla ningún tipo de beneficio monetario ni transacciones financieras, esto no excluye la posibilidad de incorporar modelos de negocio orientados al lucro en etapas futuras.</a:t>
            </a:r>
            <a:endParaRPr sz="1000"/>
          </a:p>
        </p:txBody>
      </p:sp>
      <p:sp>
        <p:nvSpPr>
          <p:cNvPr id="201" name="Google Shape;201;p26"/>
          <p:cNvSpPr txBox="1"/>
          <p:nvPr/>
        </p:nvSpPr>
        <p:spPr>
          <a:xfrm>
            <a:off x="6140825" y="1517525"/>
            <a:ext cx="2872800" cy="34074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s" sz="1300">
                <a:solidFill>
                  <a:schemeClr val="accent1"/>
                </a:solidFill>
                <a:latin typeface="Lato"/>
                <a:ea typeface="Lato"/>
                <a:cs typeface="Lato"/>
                <a:sym typeface="Lato"/>
              </a:rPr>
              <a:t>Cómo? </a:t>
            </a:r>
            <a:endParaRPr sz="1300">
              <a:solidFill>
                <a:schemeClr val="accent1"/>
              </a:solidFill>
              <a:latin typeface="Lato"/>
              <a:ea typeface="Lato"/>
              <a:cs typeface="Lato"/>
              <a:sym typeface="Lato"/>
            </a:endParaRPr>
          </a:p>
          <a:p>
            <a:pPr indent="0" lvl="0" marL="0" rtl="0" algn="l">
              <a:lnSpc>
                <a:spcPct val="115000"/>
              </a:lnSpc>
              <a:spcBef>
                <a:spcPts val="0"/>
              </a:spcBef>
              <a:spcAft>
                <a:spcPts val="0"/>
              </a:spcAft>
              <a:buNone/>
            </a:pPr>
            <a:r>
              <a:t/>
            </a:r>
            <a:endParaRPr sz="1300">
              <a:solidFill>
                <a:schemeClr val="accent1"/>
              </a:solidFill>
              <a:latin typeface="Lato"/>
              <a:ea typeface="Lato"/>
              <a:cs typeface="Lato"/>
              <a:sym typeface="Lato"/>
            </a:endParaRPr>
          </a:p>
          <a:p>
            <a:pPr indent="-311150" lvl="0" marL="457200" rtl="0" algn="l">
              <a:lnSpc>
                <a:spcPct val="115000"/>
              </a:lnSpc>
              <a:spcBef>
                <a:spcPts val="0"/>
              </a:spcBef>
              <a:spcAft>
                <a:spcPts val="0"/>
              </a:spcAft>
              <a:buClr>
                <a:schemeClr val="accent1"/>
              </a:buClr>
              <a:buSzPts val="1300"/>
              <a:buFont typeface="Lato"/>
              <a:buChar char="●"/>
            </a:pPr>
            <a:r>
              <a:rPr lang="es" sz="1300">
                <a:solidFill>
                  <a:schemeClr val="accent1"/>
                </a:solidFill>
                <a:latin typeface="Lato"/>
                <a:ea typeface="Lato"/>
                <a:cs typeface="Lato"/>
                <a:sym typeface="Lato"/>
              </a:rPr>
              <a:t>Venta de licencias o servicio institucional para otras casas de estudio.</a:t>
            </a:r>
            <a:endParaRPr sz="1300">
              <a:solidFill>
                <a:schemeClr val="accent1"/>
              </a:solidFill>
              <a:latin typeface="Lato"/>
              <a:ea typeface="Lato"/>
              <a:cs typeface="Lato"/>
              <a:sym typeface="Lato"/>
            </a:endParaRPr>
          </a:p>
          <a:p>
            <a:pPr indent="-311150" lvl="0" marL="457200" rtl="0" algn="l">
              <a:lnSpc>
                <a:spcPct val="115000"/>
              </a:lnSpc>
              <a:spcBef>
                <a:spcPts val="0"/>
              </a:spcBef>
              <a:spcAft>
                <a:spcPts val="0"/>
              </a:spcAft>
              <a:buClr>
                <a:schemeClr val="accent1"/>
              </a:buClr>
              <a:buSzPts val="1300"/>
              <a:buFont typeface="Lato"/>
              <a:buChar char="●"/>
            </a:pPr>
            <a:r>
              <a:rPr lang="es" sz="1300">
                <a:solidFill>
                  <a:schemeClr val="accent1"/>
                </a:solidFill>
                <a:latin typeface="Lato"/>
                <a:ea typeface="Lato"/>
                <a:cs typeface="Lato"/>
                <a:sym typeface="Lato"/>
              </a:rPr>
              <a:t>Tareas externas financiadas por la industria para usuarios con buen rendimiento, generando ingresos por comisión de intermediación.</a:t>
            </a:r>
            <a:endParaRPr sz="1300">
              <a:solidFill>
                <a:schemeClr val="accen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7"/>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207" name="Google Shape;207;p27"/>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Mockups</a:t>
            </a:r>
            <a:r>
              <a:rPr lang="es"/>
              <a:t>	</a:t>
            </a:r>
            <a:endParaRPr/>
          </a:p>
          <a:p>
            <a:pPr indent="0" lvl="0" marL="0" rtl="0" algn="l">
              <a:spcBef>
                <a:spcPts val="0"/>
              </a:spcBef>
              <a:spcAft>
                <a:spcPts val="0"/>
              </a:spcAft>
              <a:buNone/>
            </a:pPr>
            <a:r>
              <a:t/>
            </a:r>
            <a:endParaRPr/>
          </a:p>
        </p:txBody>
      </p:sp>
      <p:pic>
        <p:nvPicPr>
          <p:cNvPr id="208" name="Google Shape;208;p27"/>
          <p:cNvPicPr preferRelativeResize="0"/>
          <p:nvPr/>
        </p:nvPicPr>
        <p:blipFill>
          <a:blip r:embed="rId4">
            <a:alphaModFix/>
          </a:blip>
          <a:stretch>
            <a:fillRect/>
          </a:stretch>
        </p:blipFill>
        <p:spPr>
          <a:xfrm>
            <a:off x="2268425" y="0"/>
            <a:ext cx="3600226" cy="5400326"/>
          </a:xfrm>
          <a:prstGeom prst="rect">
            <a:avLst/>
          </a:prstGeom>
          <a:noFill/>
          <a:ln>
            <a:noFill/>
          </a:ln>
        </p:spPr>
      </p:pic>
      <p:pic>
        <p:nvPicPr>
          <p:cNvPr id="209" name="Google Shape;209;p27"/>
          <p:cNvPicPr preferRelativeResize="0"/>
          <p:nvPr/>
        </p:nvPicPr>
        <p:blipFill>
          <a:blip r:embed="rId5">
            <a:alphaModFix/>
          </a:blip>
          <a:stretch>
            <a:fillRect/>
          </a:stretch>
        </p:blipFill>
        <p:spPr>
          <a:xfrm>
            <a:off x="2225749" y="490750"/>
            <a:ext cx="6918250" cy="4201419"/>
          </a:xfrm>
          <a:prstGeom prst="rect">
            <a:avLst/>
          </a:prstGeom>
          <a:noFill/>
          <a:ln>
            <a:noFill/>
          </a:ln>
        </p:spPr>
      </p:pic>
      <p:pic>
        <p:nvPicPr>
          <p:cNvPr id="210" name="Google Shape;210;p27"/>
          <p:cNvPicPr preferRelativeResize="0"/>
          <p:nvPr/>
        </p:nvPicPr>
        <p:blipFill>
          <a:blip r:embed="rId6">
            <a:alphaModFix/>
          </a:blip>
          <a:stretch>
            <a:fillRect/>
          </a:stretch>
        </p:blipFill>
        <p:spPr>
          <a:xfrm>
            <a:off x="2128475" y="490750"/>
            <a:ext cx="7841626" cy="40392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0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20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8"/>
          <p:cNvPicPr preferRelativeResize="0"/>
          <p:nvPr/>
        </p:nvPicPr>
        <p:blipFill>
          <a:blip r:embed="rId3">
            <a:alphaModFix/>
          </a:blip>
          <a:stretch>
            <a:fillRect/>
          </a:stretch>
        </p:blipFill>
        <p:spPr>
          <a:xfrm>
            <a:off x="7147725" y="0"/>
            <a:ext cx="1996274" cy="490750"/>
          </a:xfrm>
          <a:prstGeom prst="rect">
            <a:avLst/>
          </a:prstGeom>
          <a:noFill/>
          <a:ln>
            <a:noFill/>
          </a:ln>
        </p:spPr>
      </p:pic>
      <p:sp>
        <p:nvSpPr>
          <p:cNvPr id="216" name="Google Shape;216;p28"/>
          <p:cNvSpPr txBox="1"/>
          <p:nvPr>
            <p:ph type="title"/>
          </p:nvPr>
        </p:nvSpPr>
        <p:spPr>
          <a:xfrm>
            <a:off x="727650" y="7560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Conclusión</a:t>
            </a:r>
            <a:r>
              <a:rPr lang="es"/>
              <a:t>	</a:t>
            </a:r>
            <a:endParaRPr/>
          </a:p>
          <a:p>
            <a:pPr indent="0" lvl="0" marL="0" rtl="0" algn="l">
              <a:spcBef>
                <a:spcPts val="0"/>
              </a:spcBef>
              <a:spcAft>
                <a:spcPts val="0"/>
              </a:spcAft>
              <a:buNone/>
            </a:pPr>
            <a:r>
              <a:t/>
            </a:r>
            <a:endParaRPr/>
          </a:p>
        </p:txBody>
      </p:sp>
      <p:sp>
        <p:nvSpPr>
          <p:cNvPr id="217" name="Google Shape;217;p28"/>
          <p:cNvSpPr txBox="1"/>
          <p:nvPr>
            <p:ph idx="1" type="body"/>
          </p:nvPr>
        </p:nvSpPr>
        <p:spPr>
          <a:xfrm>
            <a:off x="727650" y="1330725"/>
            <a:ext cx="7688700" cy="3407400"/>
          </a:xfrm>
          <a:prstGeom prst="rect">
            <a:avLst/>
          </a:prstGeom>
        </p:spPr>
        <p:txBody>
          <a:bodyPr anchorCtr="0" anchor="ctr" bIns="91425" lIns="91425" spcFirstLastPara="1" rIns="91425" wrap="square" tIns="91425">
            <a:noAutofit/>
          </a:bodyPr>
          <a:lstStyle/>
          <a:p>
            <a:pPr indent="0" lvl="0" marL="0" rtl="0" algn="just">
              <a:spcBef>
                <a:spcPts val="1200"/>
              </a:spcBef>
              <a:spcAft>
                <a:spcPts val="0"/>
              </a:spcAft>
              <a:buNone/>
            </a:pPr>
            <a:r>
              <a:rPr lang="es" sz="1600"/>
              <a:t>En conclusión, Bug Hunter resuelve el problema de la falta de experiencia práctica continua para estudiantes de programación sin amarrarlos a horarios rígidos o equipos pesados. El proyecto demuestra que es totalmente viable construir una plataforma robusta en tres meses gracias a una arquitectura limpia con Next.js, PostgreSQL y Prisma. Además, integra seguridad de nivel profesional con autenticación dual y Webhooks automatizados de GitHub, cerrando con una distribución equitativa de tareas entre el equipo que entrega un producto listo para el ecosistema de la comunidad.</a:t>
            </a:r>
            <a:endParaRPr sz="1600"/>
          </a:p>
          <a:p>
            <a:pPr indent="0" lvl="0" marL="0" rtl="0" algn="l">
              <a:spcBef>
                <a:spcPts val="1200"/>
              </a:spcBef>
              <a:spcAft>
                <a:spcPts val="120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